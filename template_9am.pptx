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011680" cy="82296"/>
          </a:xfrm>
          <a:prstGeom prst="rect">
            <a:avLst/>
          </a:prstGeom>
          <a:solidFill>
            <a:srgbClr val="8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212121"/>
                </a:solidFill>
                <a:latin typeface="Noto Serif"/>
              </a:rPr>
              <a:t>Key Drivers of Weight-Loss</a:t>
            </a:r>
          </a:p>
          <a:p>
            <a:pPr algn="l"/>
            <a:r>
              <a:rPr sz="4000" b="0">
                <a:solidFill>
                  <a:srgbClr val="212121"/>
                </a:solidFill>
                <a:latin typeface="Noto Serif"/>
              </a:rPr>
              <a:t>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  <a:latin typeface="Noto Sans"/>
              </a:rPr>
              <a:t>9amHealth member cohort · [your name] · [date]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417320"/>
            <a:ext cx="2011680" cy="82296"/>
          </a:xfrm>
          <a:prstGeom prst="rect">
            <a:avLst/>
          </a:prstGeom>
          <a:solidFill>
            <a:srgbClr val="8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>
                <a:solidFill>
                  <a:srgbClr val="212121"/>
                </a:solidFill>
                <a:latin typeface="Noto Serif"/>
              </a:rPr>
              <a:t>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12121"/>
                </a:solidFill>
                <a:latin typeface="Noto Sans"/>
              </a:rPr>
              <a:t>• Business question broken into sub-questions + hypotheses</a:t>
            </a:r>
          </a:p>
          <a:p>
            <a:pPr algn="l"/>
            <a:r>
              <a:rPr sz="2000" b="0">
                <a:solidFill>
                  <a:srgbClr val="212121"/>
                </a:solidFill>
                <a:latin typeface="Noto Sans"/>
              </a:rPr>
              <a:t>• Datasets: demographics, body-weight, engagement, module completion</a:t>
            </a:r>
          </a:p>
          <a:p>
            <a:pPr algn="l"/>
            <a:r>
              <a:rPr sz="2000" b="0">
                <a:solidFill>
                  <a:srgbClr val="212121"/>
                </a:solidFill>
                <a:latin typeface="Noto Sans"/>
              </a:rPr>
              <a:t>• Member-level join; weight-loss success = Diff &gt; 0 (First − Last)</a:t>
            </a:r>
          </a:p>
          <a:p>
            <a:pPr algn="l"/>
            <a:r>
              <a:rPr sz="2000" b="0">
                <a:solidFill>
                  <a:srgbClr val="212121"/>
                </a:solidFill>
                <a:latin typeface="Noto Sans"/>
              </a:rPr>
              <a:t>• Explicit assumptions logged (see appendix)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017520"/>
            <a:ext cx="2743200" cy="82296"/>
          </a:xfrm>
          <a:prstGeom prst="rect">
            <a:avLst/>
          </a:prstGeom>
          <a:solidFill>
            <a:srgbClr val="F7B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212121"/>
                </a:solidFill>
                <a:latin typeface="Noto Serif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417320"/>
            <a:ext cx="2011680" cy="82296"/>
          </a:xfrm>
          <a:prstGeom prst="rect">
            <a:avLst/>
          </a:prstGeom>
          <a:solidFill>
            <a:srgbClr val="8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212121"/>
                </a:solidFill>
                <a:latin typeface="Noto Serif"/>
              </a:rPr>
              <a:t>Finding: [headline in one line]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6675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212121"/>
                </a:solidFill>
                <a:latin typeface="Noto Sans"/>
              </a:rPr>
              <a:t>chart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737360"/>
            <a:ext cx="3474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So what:</a:t>
            </a:r>
          </a:p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[business implication +</a:t>
            </a:r>
          </a:p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recommended action]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417320"/>
            <a:ext cx="2011680" cy="82296"/>
          </a:xfrm>
          <a:prstGeom prst="rect">
            <a:avLst/>
          </a:prstGeom>
          <a:solidFill>
            <a:srgbClr val="FFB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>
                <a:solidFill>
                  <a:srgbClr val="212121"/>
                </a:solidFill>
                <a:latin typeface="Noto Serif"/>
              </a:rPr>
              <a:t>Recommendations 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12121"/>
                </a:solidFill>
                <a:latin typeface="Noto Sans"/>
              </a:rPr>
              <a:t>1. [action] — [expected impact]</a:t>
            </a:r>
          </a:p>
          <a:p>
            <a:pPr algn="l"/>
            <a:r>
              <a:rPr sz="2200" b="0">
                <a:solidFill>
                  <a:srgbClr val="212121"/>
                </a:solidFill>
                <a:latin typeface="Noto Sans"/>
              </a:rPr>
              <a:t>2. [action] — [expected impact]</a:t>
            </a:r>
          </a:p>
          <a:p>
            <a:pPr algn="l"/>
            <a:r>
              <a:rPr sz="2200" b="0">
                <a:solidFill>
                  <a:srgbClr val="212121"/>
                </a:solidFill>
                <a:latin typeface="Noto Sans"/>
              </a:rPr>
              <a:t>3. [action] — [expected impact]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417320"/>
            <a:ext cx="2011680" cy="82296"/>
          </a:xfrm>
          <a:prstGeom prst="rect">
            <a:avLst/>
          </a:prstGeom>
          <a:solidFill>
            <a:srgbClr val="F7B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12121"/>
                </a:solidFill>
                <a:latin typeface="Noto Serif"/>
              </a:rPr>
              <a:t>Appendix · Assumptions &amp; Data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• Demographics has no age column (briefing said it would)</a:t>
            </a:r>
          </a:p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• Weight-loss success defined as Diff &gt; 0 (Diff = First − Last)</a:t>
            </a:r>
          </a:p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• Join assumed 1:1: bw_detail.User Id ↔ others.Readable Id</a:t>
            </a:r>
          </a:p>
          <a:p>
            <a:pPr algn="l"/>
            <a:r>
              <a:rPr sz="1800" b="0">
                <a:solidFill>
                  <a:srgbClr val="212121"/>
                </a:solidFill>
                <a:latin typeface="Noto Sans"/>
              </a:rPr>
              <a:t>• Trailing empty column dropped as export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"/>
              </a:rPr>
              <a:t>9amHealth · Data Analyst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